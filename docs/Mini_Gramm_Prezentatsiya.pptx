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feaa43d7047c9" /><Relationship Type="http://schemas.openxmlformats.org/officeDocument/2006/relationships/extended-properties" Target="/docProps/app.xml" Id="Rce8ec4742c934f77" /><Relationship Type="http://schemas.openxmlformats.org/officeDocument/2006/relationships/officeDocument" Target="/ppt/presentation.xml" Id="R7de40a4fb69d45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c26e872d2b4ebc"/>
  </p:sldMasterIdLst>
  <p:notesMasterIdLst>
    <p:notesMasterId xmlns:r="http://schemas.openxmlformats.org/officeDocument/2006/relationships" r:id="R70e12742fa464765"/>
  </p:notesMasterIdLst>
  <p:sldIdLst>
    <p:sldId xmlns:r="http://schemas.openxmlformats.org/officeDocument/2006/relationships" id="256" r:id="R4f4ff10cf87746fd"/>
    <p:sldId xmlns:r="http://schemas.openxmlformats.org/officeDocument/2006/relationships" id="257" r:id="Rd175e2cf6e8741a8"/>
    <p:sldId xmlns:r="http://schemas.openxmlformats.org/officeDocument/2006/relationships" id="258" r:id="R1ba45673cbff4b6a"/>
    <p:sldId xmlns:r="http://schemas.openxmlformats.org/officeDocument/2006/relationships" id="259" r:id="R5fe96fbca9bd4f84"/>
    <p:sldId xmlns:r="http://schemas.openxmlformats.org/officeDocument/2006/relationships" id="260" r:id="R01ce8b7c35a8437a"/>
    <p:sldId xmlns:r="http://schemas.openxmlformats.org/officeDocument/2006/relationships" id="261" r:id="R0286a8e7315d4636"/>
    <p:sldId xmlns:r="http://schemas.openxmlformats.org/officeDocument/2006/relationships" id="262" r:id="R05811cd2b200405e"/>
    <p:sldId xmlns:r="http://schemas.openxmlformats.org/officeDocument/2006/relationships" id="263" r:id="R4925baf4935d44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ede033cf97469b" /><Relationship Type="http://schemas.openxmlformats.org/officeDocument/2006/relationships/slideMaster" Target="/ppt/slideMasters/slideMaster1.xml" Id="Rdcc26e872d2b4ebc" /><Relationship Type="http://schemas.openxmlformats.org/officeDocument/2006/relationships/notesMaster" Target="/ppt/notesMasters/notesMaster1.xml" Id="R70e12742fa464765" /><Relationship Type="http://schemas.openxmlformats.org/officeDocument/2006/relationships/presProps" Target="/ppt/presProps.xml" Id="R674da7a7ac4e476f" /><Relationship Type="http://schemas.openxmlformats.org/officeDocument/2006/relationships/tableStyles" Target="/ppt/tableStyles.xml" Id="R3b35bedce0a74d8f" /><Relationship Type="http://schemas.openxmlformats.org/officeDocument/2006/relationships/slide" Target="/ppt/slides/slide1.xml" Id="R4f4ff10cf87746fd" /><Relationship Type="http://schemas.openxmlformats.org/officeDocument/2006/relationships/slide" Target="/ppt/slides/slide2.xml" Id="Rd175e2cf6e8741a8" /><Relationship Type="http://schemas.openxmlformats.org/officeDocument/2006/relationships/slide" Target="/ppt/slides/slide3.xml" Id="R1ba45673cbff4b6a" /><Relationship Type="http://schemas.openxmlformats.org/officeDocument/2006/relationships/slide" Target="/ppt/slides/slide4.xml" Id="R5fe96fbca9bd4f84" /><Relationship Type="http://schemas.openxmlformats.org/officeDocument/2006/relationships/slide" Target="/ppt/slides/slide5.xml" Id="R01ce8b7c35a8437a" /><Relationship Type="http://schemas.openxmlformats.org/officeDocument/2006/relationships/slide" Target="/ppt/slides/slide6.xml" Id="R0286a8e7315d4636" /><Relationship Type="http://schemas.openxmlformats.org/officeDocument/2006/relationships/slide" Target="/ppt/slides/slide7.xml" Id="R05811cd2b200405e" /><Relationship Type="http://schemas.openxmlformats.org/officeDocument/2006/relationships/slide" Target="/ppt/slides/slide8.xml" Id="R4925baf4935d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63a8e5cff0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8ac376ec9d4f89" /><Relationship Type="http://schemas.openxmlformats.org/officeDocument/2006/relationships/notesMaster" Target="/ppt/notesMasters/notesMaster1.xml" Id="Ref92232815b942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da788b30494634" /><Relationship Type="http://schemas.openxmlformats.org/officeDocument/2006/relationships/notesMaster" Target="/ppt/notesMasters/notesMaster1.xml" Id="Rd230a45246784f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168a4446b244fc" /><Relationship Type="http://schemas.openxmlformats.org/officeDocument/2006/relationships/notesMaster" Target="/ppt/notesMasters/notesMaster1.xml" Id="R026113ad4ef94b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649c8eca424203" /><Relationship Type="http://schemas.openxmlformats.org/officeDocument/2006/relationships/notesMaster" Target="/ppt/notesMasters/notesMaster1.xml" Id="R09c6ff05dd7a4e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5a2a8573994a14" /><Relationship Type="http://schemas.openxmlformats.org/officeDocument/2006/relationships/notesMaster" Target="/ppt/notesMasters/notesMaster1.xml" Id="R3f71800db8c04b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97ff3f59264a6f" /><Relationship Type="http://schemas.openxmlformats.org/officeDocument/2006/relationships/notesMaster" Target="/ppt/notesMasters/notesMaster1.xml" Id="R2e9269a80f8244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3a1f890381426a" /><Relationship Type="http://schemas.openxmlformats.org/officeDocument/2006/relationships/notesMaster" Target="/ppt/notesMasters/notesMaster1.xml" Id="R9a6229c786204f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7075c597c64db6" /><Relationship Type="http://schemas.openxmlformats.org/officeDocument/2006/relationships/notesMaster" Target="/ppt/notesMasters/notesMaster1.xml" Id="R3727ecb23012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cd1a61c0e45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8b9ebb9bb4366" /><Relationship Type="http://schemas.openxmlformats.org/officeDocument/2006/relationships/slideLayout" Target="/ppt/slideLayouts/slideLayout1.xml" Id="Rca87c65c48c740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87c65c48c740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a3d985a0e48dc" /><Relationship Type="http://schemas.openxmlformats.org/officeDocument/2006/relationships/image" Target="/ppt/media/image.png" Id="Rbb2bf4bd4fb24148" /><Relationship Type="http://schemas.openxmlformats.org/officeDocument/2006/relationships/notesSlide" Target="/ppt/notesSlides/notesSlide1.xml" Id="R3fb3e74bab8845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e73b7798c4d14" /><Relationship Type="http://schemas.openxmlformats.org/officeDocument/2006/relationships/notesSlide" Target="/ppt/notesSlides/notesSlide2.xml" Id="R05ef724d6df04b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4d1c03fcd4a3d" /><Relationship Type="http://schemas.openxmlformats.org/officeDocument/2006/relationships/notesSlide" Target="/ppt/notesSlides/notesSlide3.xml" Id="R9c3c71a1fad44e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9d129846746ea" /><Relationship Type="http://schemas.openxmlformats.org/officeDocument/2006/relationships/notesSlide" Target="/ppt/notesSlides/notesSlide4.xml" Id="Rc5c3a61e29284a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569a96db949a0" /><Relationship Type="http://schemas.openxmlformats.org/officeDocument/2006/relationships/notesSlide" Target="/ppt/notesSlides/notesSlide5.xml" Id="R5c8b7d8041274d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5af7f6b0748f6" /><Relationship Type="http://schemas.openxmlformats.org/officeDocument/2006/relationships/notesSlide" Target="/ppt/notesSlides/notesSlide6.xml" Id="R666959850e1e46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e5f01d86e498d" /><Relationship Type="http://schemas.openxmlformats.org/officeDocument/2006/relationships/notesSlide" Target="/ppt/notesSlides/notesSlide7.xml" Id="Rd48fbc65eac14c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7c7e760c9460f" /><Relationship Type="http://schemas.openxmlformats.org/officeDocument/2006/relationships/notesSlide" Target="/ppt/notesSlides/notesSlide8.xml" Id="R06c2d5dd132a43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bf4bd4fb2414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ED58D-0C59-40D9-90C7-B371538C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6172B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96A82-0045-4510-9AED-6EB92FB6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МИНИ ГРАММ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38781-5376-4960-9928-2CBD098B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8EFFF"/>
                </a:solidFill>
              </a:defRPr>
            </a:pPr>
            <a:r>
              <a:rPr sz="1950" b="0">
                <a:solidFill>
                  <a:srgbClr val="D8EFFF"/>
                </a:solidFill>
              </a:rPr>
              <a:t>Корпоративная платформа связи, обучения и ИИ-помощи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C302A-FDB3-4E4C-AC85-716AF680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721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CBE6"/>
                </a:solidFill>
              </a:defRPr>
            </a:pPr>
            <a:r>
              <a:rPr sz="1200" b="1">
                <a:solidFill>
                  <a:srgbClr val="A9CBE6"/>
                </a:solidFill>
              </a:rPr>
              <a:t>LLM  •  Управление персоналом (HR)  •  2026</a:t>
            </a:r>
          </a:p>
        </p:txBody>
      </p:sp>
    </p:spTree>
    <p:extLst>
      <p:ext uri="{BB962C8B-B14F-4D97-AF65-F5344CB8AC3E}">
        <p14:creationId xmlns:p14="http://schemas.microsoft.com/office/powerpoint/2010/main" val="1121365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29BEA-CEEC-4077-951D-5670276B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B34"/>
                </a:solidFill>
              </a:defRPr>
            </a:pPr>
            <a:r>
              <a:rPr sz="2700" b="1">
                <a:solidFill>
                  <a:srgbClr val="071B34"/>
                </a:solidFill>
              </a:rPr>
              <a:t>Рабочая информация распределена между разными каналами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A8998-D212-4F62-BDDD-FA41C2CF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Из-за этого поиск, доступ и обучение трудно контролировать централизованно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3FE62-9E28-4968-9A38-13EE6CE1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048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A9D79-A5BE-43B9-A483-66F042A9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CF4E7-CBEC-4178-B7AA-5C637406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7642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B34"/>
                </a:solidFill>
              </a:defRPr>
            </a:pPr>
            <a:r>
              <a:rPr sz="1650" b="0">
                <a:solidFill>
                  <a:srgbClr val="071B34"/>
                </a:solidFill>
              </a:rPr>
              <a:t>Обычные мессенджеры не рассчитаны на закрытые производственные данные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699C0-8D98-47AD-B928-8E663963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D9C46-F0EF-460F-BD99-13FDD832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955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B34"/>
                </a:solidFill>
              </a:defRPr>
            </a:pPr>
            <a:r>
              <a:rPr sz="1650" b="0">
                <a:solidFill>
                  <a:srgbClr val="071B34"/>
                </a:solidFill>
              </a:rPr>
              <a:t>Инструкции, документы и консультации находятся в разных системах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5F095-317B-4A52-A48B-DFEE5002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D5FD5-C1C9-4776-A85D-9596D2F2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1472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B34"/>
                </a:solidFill>
              </a:defRPr>
            </a:pPr>
            <a:r>
              <a:rPr sz="1650" b="0">
                <a:solidFill>
                  <a:srgbClr val="071B34"/>
                </a:solidFill>
              </a:rPr>
              <a:t>Нет единой ролевой модели по предприятию, подразделению и цеху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6CA49-9A9C-48B8-8E6A-D502A3FD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EE37D-7B3F-43B3-912C-DF01C198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B34"/>
                </a:solidFill>
              </a:defRPr>
            </a:pPr>
            <a:r>
              <a:rPr sz="1650" b="0">
                <a:solidFill>
                  <a:srgbClr val="071B34"/>
                </a:solidFill>
              </a:rPr>
              <a:t>Обучение и персональная рассылка требуют ручной работы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792D4-2D35-41D3-B701-EE3C79D3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МИНИ ГРАММ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B1593-797D-4780-8A82-20D22E5E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3678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75E69-5A3A-4EC2-A410-D3BF551D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B34"/>
                </a:solidFill>
              </a:defRPr>
            </a:pPr>
            <a:r>
              <a:rPr sz="2700" b="1">
                <a:solidFill>
                  <a:srgbClr val="071B34"/>
                </a:solidFill>
              </a:rPr>
              <a:t>Одна защищённая платформа объединяет ключевые процессы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DCAE9-8000-460F-811C-25F11AC9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Чаты, знания, обучение и документы работают по единым правам доступа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CB26D-7179-4570-AA75-D3DD07B3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048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0E7A5-E6F1-41A0-8C4A-62EE18B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952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F7A6E-2211-4A6C-9315-A2614940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4845C-5AF8-4921-A9AF-00C5DB7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B34"/>
                </a:solidFill>
              </a:defRPr>
            </a:pPr>
            <a:r>
              <a:rPr sz="1950" b="1">
                <a:solidFill>
                  <a:srgbClr val="071B34"/>
                </a:solidFill>
              </a:rPr>
              <a:t>Связь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434A7-268F-4CBD-AC94-1CD5DFBE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962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</a:defRPr>
            </a:pPr>
            <a:r>
              <a:rPr sz="1425" b="0">
                <a:solidFill>
                  <a:srgbClr val="536273"/>
                </a:solidFill>
              </a:rPr>
              <a:t>Корпоративные, цеховые и персональные чаты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E40DE-0B34-421A-8AD0-46CF2E8C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381250" cy="2952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8D463-F21E-44FF-AE72-02493E2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381B7-E862-462D-BFBA-AD13AC7C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B34"/>
                </a:solidFill>
              </a:defRPr>
            </a:pPr>
            <a:r>
              <a:rPr sz="1950" b="1">
                <a:solidFill>
                  <a:srgbClr val="071B34"/>
                </a:solidFill>
              </a:rPr>
              <a:t>ИИ-помощник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67892-B8DD-4D62-ACD3-AE4EC27D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1962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</a:defRPr>
            </a:pPr>
            <a:r>
              <a:rPr sz="1425" b="0">
                <a:solidFill>
                  <a:srgbClr val="536273"/>
                </a:solidFill>
              </a:rPr>
              <a:t>Ответы по утверждённой технической документации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84EE2-D234-409A-9F9B-0569A781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2381250" cy="2952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DF1FF-D958-47B6-9C8A-AE7D5092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3FEDA-EAE2-4B07-BDCA-AF941DF2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B34"/>
                </a:solidFill>
              </a:defRPr>
            </a:pPr>
            <a:r>
              <a:rPr sz="1950" b="1">
                <a:solidFill>
                  <a:srgbClr val="071B34"/>
                </a:solidFill>
              </a:rPr>
              <a:t>Обучение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40BD9-B758-471D-8441-0966B618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962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</a:defRPr>
            </a:pPr>
            <a:r>
              <a:rPr sz="1425" b="0">
                <a:solidFill>
                  <a:srgbClr val="536273"/>
                </a:solidFill>
              </a:rPr>
              <a:t>Анимационные материалы и экзамены по ОТ, ТБ и ГПМ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881B1-8FA8-433F-ADE9-8AF3DAEB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381250" cy="2952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B806C-2100-4A3C-A7B9-1B23AC1A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CC181-3F35-440E-8AC4-B72882C8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241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B34"/>
                </a:solidFill>
              </a:defRPr>
            </a:pPr>
            <a:r>
              <a:rPr sz="1950" b="1">
                <a:solidFill>
                  <a:srgbClr val="071B34"/>
                </a:solidFill>
              </a:rPr>
              <a:t>Документы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946A5-43BC-432B-B984-FFD20BF6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1962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</a:defRPr>
            </a:pPr>
            <a:r>
              <a:rPr sz="1425" b="0">
                <a:solidFill>
                  <a:srgbClr val="536273"/>
                </a:solidFill>
              </a:rPr>
              <a:t>Персональная доставка уведомлений и расчётных листков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7B901-D8BD-403A-8DA1-B3AE12CA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МИНИ ГРАММ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9091B-5FDE-453A-8B69-9660D02A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0100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82495-42C9-43FE-B7F0-0EEC3C6D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B34"/>
                </a:solidFill>
              </a:defRPr>
            </a:pPr>
            <a:r>
              <a:rPr sz="2700" b="1">
                <a:solidFill>
                  <a:srgbClr val="071B34"/>
                </a:solidFill>
              </a:rPr>
              <a:t>ИИ отвечает только на основе разрешённой базы знаний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68F89-AE07-411A-AABF-7014FFA8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Каждый ответ должен вести к исходному утверждённому документу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C9E3C-F027-4112-B1CB-DA3D625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048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1EEEF-7105-418C-9FE5-7E7433F8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666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3E147-B1E3-4B68-BCD5-49F2B1D7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E233F-A63B-4B36-9805-9F38D83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4D7D2-A9F5-409D-9D09-B96E7C00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06881-CF64-416F-85EF-6868846F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B34"/>
                </a:solidFill>
              </a:defRPr>
            </a:pPr>
            <a:r>
              <a:rPr sz="1425" b="1">
                <a:solidFill>
                  <a:srgbClr val="071B34"/>
                </a:solidFill>
              </a:rPr>
              <a:t>Запрос сотрудника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53BD9-EAAB-4DAE-8D6C-BD7F5373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05150"/>
            <a:ext cx="666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D33AC-BD32-40A7-8837-2599205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4EC40-AEC8-4E22-94D0-904B0DA5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472AC-164F-4390-A22A-612E1C38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852B3-90FA-4BD1-AC81-AFD33171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38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B34"/>
                </a:solidFill>
              </a:defRPr>
            </a:pPr>
            <a:r>
              <a:rPr sz="1425" b="1">
                <a:solidFill>
                  <a:srgbClr val="071B34"/>
                </a:solidFill>
              </a:rPr>
              <a:t>Проверка доступа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B459D-1E3E-4EB2-9984-C139AF08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666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3117F-7583-4AFD-82C9-4354BBA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928AD-9CFC-44FD-8D79-8A697949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6F2B3-3DA3-48FB-BCD1-6C329593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7CD70-22E4-4A7F-A542-6DA4585E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B34"/>
                </a:solidFill>
              </a:defRPr>
            </a:pPr>
            <a:r>
              <a:rPr sz="1425" b="1">
                <a:solidFill>
                  <a:srgbClr val="071B34"/>
                </a:solidFill>
              </a:rPr>
              <a:t>Поиск в документах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410BC-596C-4D49-9F98-8ECE4BF4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C3D8F-FE9B-47C3-B2C3-18E65CA1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BB93F-B1FC-4D44-8B44-E205A04E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50A4C-B48D-4CDD-88D8-EA9DC09E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B34"/>
                </a:solidFill>
              </a:defRPr>
            </a:pPr>
            <a:r>
              <a:rPr sz="1425" b="1">
                <a:solidFill>
                  <a:srgbClr val="071B34"/>
                </a:solidFill>
              </a:rPr>
              <a:t>Ответ + источник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B27BB-EE99-4C99-AFE4-F4620D0A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36273"/>
                </a:solidFill>
              </a:defRPr>
            </a:pPr>
            <a:r>
              <a:rPr sz="1650" b="1">
                <a:solidFill>
                  <a:srgbClr val="536273"/>
                </a:solidFill>
              </a:rPr>
              <a:t>Текст  •  Голос  •  Фото маркировки оборудования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7872D-6CAF-45C6-94E1-3B2093F0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МИНИ ГРАММ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CB445-6F3A-4708-897B-BC83A519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8998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7A718-3C0B-47ED-B16B-1D06C6A2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B34"/>
                </a:solidFill>
              </a:defRPr>
            </a:pPr>
            <a:r>
              <a:rPr sz="2700" b="1">
                <a:solidFill>
                  <a:srgbClr val="071B34"/>
                </a:solidFill>
              </a:rPr>
              <a:t>Архитектура сохраняет данные внутри корпоративного контура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03A96-9A9E-42CD-B00E-412FC477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Интеграции подключаются только после согласования безопасности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39284-018F-40DE-8E4C-4D4C665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048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057F6-E1E6-4BAA-BC35-D119A097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6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14B69-22CF-48A8-8C51-E4A5A47D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66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Пользователи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027FB-6D76-43ED-BF2F-669DE497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57375"/>
            <a:ext cx="7905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A292A-DE31-4570-B39D-82C332E0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669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1B34"/>
                </a:solidFill>
              </a:defRPr>
            </a:pPr>
            <a:r>
              <a:rPr sz="1500" b="0">
                <a:solidFill>
                  <a:srgbClr val="071B34"/>
                </a:solidFill>
              </a:rPr>
              <a:t>Мобильное приложение  •  Веб  •  Лёгкий ПК-клиент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488F5-D177-4654-9A03-ACA1C92B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639C7-2851-4CC5-A49F-6897017B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57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Сервисы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7E94B-DD28-4E69-9E00-4B455251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7905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D9BEE-0FA2-4D74-A9E5-0CDD178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575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1B34"/>
                </a:solidFill>
              </a:defRPr>
            </a:pPr>
            <a:r>
              <a:rPr sz="1500" b="0">
                <a:solidFill>
                  <a:srgbClr val="071B34"/>
                </a:solidFill>
              </a:rPr>
              <a:t>Чаты и роли  •  RAG/LLM  •  Обучение  •  Уведомления  •  Аудит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C40BC-9228-4C03-86B1-8DB8D8BA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1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5ACF9-93B2-4078-ADB4-61A069C2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481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Источники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5E800-B728-4A0F-8AAC-982D1ADA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7905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997A9-AE54-400C-9EDA-FC84ACED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481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1B34"/>
                </a:solidFill>
              </a:defRPr>
            </a:pPr>
            <a:r>
              <a:rPr sz="1500" b="0">
                <a:solidFill>
                  <a:srgbClr val="071B34"/>
                </a:solidFill>
              </a:rPr>
              <a:t>PDF/Word/Excel  •  Техдокументы  •  Справочники  •  1С и Directum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D2323-3C8B-4AAA-880F-8C658BD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МИНИ ГРАММ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A3AE6-A8D0-408F-B6C3-C4AAEF3C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6565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33AB9-C92E-444C-8467-4F94FEE5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B34"/>
                </a:solidFill>
              </a:defRPr>
            </a:pPr>
            <a:r>
              <a:rPr sz="2700" b="1">
                <a:solidFill>
                  <a:srgbClr val="071B34"/>
                </a:solidFill>
              </a:rPr>
              <a:t>Эффект измеряется после пилота, а не обещается заранее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B92F6-468E-4D87-93B7-DE4DB369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Пилот даст подтверждённые показатели времени, качества и нагрузки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3AE66-E478-479E-B6E6-7ADCC7A8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048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4F9C7-665F-4F4A-9590-543CF14A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3286125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FCF2D-8709-4AB6-8D41-3757D3DD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8C28"/>
                </a:solidFill>
              </a:defRPr>
            </a:pPr>
            <a:r>
              <a:rPr sz="2250" b="1">
                <a:solidFill>
                  <a:srgbClr val="F28C2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8B451-F399-4E53-9E87-EB63ED2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34"/>
                </a:solidFill>
              </a:defRPr>
            </a:pPr>
            <a:r>
              <a:rPr sz="1875" b="1">
                <a:solidFill>
                  <a:srgbClr val="071B34"/>
                </a:solidFill>
              </a:rPr>
              <a:t>Экономический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89034-EB8B-4374-9B68-83FA4401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</a:defRPr>
            </a:pPr>
            <a:r>
              <a:rPr sz="1425" b="0">
                <a:solidFill>
                  <a:srgbClr val="536273"/>
                </a:solidFill>
              </a:rPr>
              <a:t>Меньше времени на поиск и ручную рассылку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66F43-610A-468F-9386-9C09E724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76450"/>
            <a:ext cx="3286125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CF3D1-381B-447B-AD73-356F7379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B5EA"/>
                </a:solidFill>
              </a:defRPr>
            </a:pPr>
            <a:r>
              <a:rPr sz="2250" b="1">
                <a:solidFill>
                  <a:srgbClr val="13B5E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83F66-00C2-4AFB-9093-61290FF7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34"/>
                </a:solidFill>
              </a:defRPr>
            </a:pPr>
            <a:r>
              <a:rPr sz="1875" b="1">
                <a:solidFill>
                  <a:srgbClr val="071B34"/>
                </a:solidFill>
              </a:rPr>
              <a:t>Технический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1142A-6FCF-481F-9199-BBBDC485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</a:defRPr>
            </a:pPr>
            <a:r>
              <a:rPr sz="1425" b="0">
                <a:solidFill>
                  <a:srgbClr val="536273"/>
                </a:solidFill>
              </a:rPr>
              <a:t>Единые роли, аудит, локальный режим и интеграции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CBA50-2F9F-49FE-8C9D-914F0D57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76450"/>
            <a:ext cx="3286125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7DF67-A433-4D49-B29B-BEBBEC00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B5EA"/>
                </a:solidFill>
              </a:defRPr>
            </a:pPr>
            <a:r>
              <a:rPr sz="2250" b="1">
                <a:solidFill>
                  <a:srgbClr val="13B5E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5681A-7DC6-4A7F-B125-D760769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34"/>
                </a:solidFill>
              </a:defRPr>
            </a:pPr>
            <a:r>
              <a:rPr sz="1875" b="1">
                <a:solidFill>
                  <a:srgbClr val="071B34"/>
                </a:solidFill>
              </a:rPr>
              <a:t>Производственный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54D63-B2FF-4A4A-84CC-EE010EAE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</a:defRPr>
            </a:pPr>
            <a:r>
              <a:rPr sz="1425" b="0">
                <a:solidFill>
                  <a:srgbClr val="536273"/>
                </a:solidFill>
              </a:rPr>
              <a:t>Быстрее доступ к знаниям и требованиям безопасности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1E11F-13E9-4305-B267-C70938C3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219700"/>
            <a:ext cx="10039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BCB"/>
                </a:solidFill>
              </a:defRPr>
            </a:pPr>
            <a:r>
              <a:rPr sz="1425" b="1">
                <a:solidFill>
                  <a:srgbClr val="0B6BCB"/>
                </a:solidFill>
              </a:rPr>
              <a:t>KPI пилота: время поиска  •  число ручных операций  •  результаты экзаменов  •  время ответа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A8826-E351-4903-98C1-A65CB4DC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МИНИ ГРАММ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159FC-8552-42A1-91DC-2E19C11B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6289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99C7FC-C45D-41CA-B52C-D5E8D879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B34"/>
                </a:solidFill>
              </a:defRPr>
            </a:pPr>
            <a:r>
              <a:rPr sz="2700" b="1">
                <a:solidFill>
                  <a:srgbClr val="071B34"/>
                </a:solidFill>
              </a:rPr>
              <a:t>Внедрение начинается с одного подразделения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3BBBE-10FA-40F2-8B52-F686E08E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Каждый следующий этап запускается после проверки предыдущего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B7172-3A48-4B53-B223-CEB43F93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048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75636-4B1A-4953-95C5-93F9201D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C0787-B52D-45CC-9076-3474ED31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8669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9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09035-D4D2-4032-A527-0AE528E6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0D5D0-D2CE-4E6D-8A0B-4093E00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818BF-9F72-4741-8E98-1F0ADB48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34"/>
                </a:solidFill>
              </a:defRPr>
            </a:pPr>
            <a:r>
              <a:rPr sz="1575" b="1">
                <a:solidFill>
                  <a:srgbClr val="071B34"/>
                </a:solidFill>
              </a:rPr>
              <a:t>Пилот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7DAA9-37C7-48F7-9CD7-D31216CB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Роли и чаты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DA577-9ABE-4B05-B40B-241F1837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718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DE7A7-9C1A-419A-9ED7-67E88F61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8669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84B2D-6FED-4021-8C65-5B6DFFB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16B89-1713-49CC-B043-D8B0A81B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0D9EE-3ABD-46E3-BF28-C734D02A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52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34"/>
                </a:solidFill>
              </a:defRPr>
            </a:pPr>
            <a:r>
              <a:rPr sz="1575" b="1">
                <a:solidFill>
                  <a:srgbClr val="071B34"/>
                </a:solidFill>
              </a:rPr>
              <a:t>База знаний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9AD03-85DC-475A-922C-C0CA5092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9975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Документы и ИИ-поиск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0DD42-5400-4226-884A-1CB1EE62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718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CAFC0-2B88-4AF7-9581-10F86E51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66950"/>
            <a:ext cx="18669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D8671-39E6-4FF9-A159-AD378E93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F049D-F8F7-482E-929F-31471B13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5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FCF38-E670-4E13-AC09-B6CB658B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52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34"/>
                </a:solidFill>
              </a:defRPr>
            </a:pPr>
            <a:r>
              <a:rPr sz="1575" b="1">
                <a:solidFill>
                  <a:srgbClr val="071B34"/>
                </a:solidFill>
              </a:rPr>
              <a:t>Обучение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C8A35-403D-4D0A-AF15-19606A4A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9975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Анимация и экзамены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B0838-B780-41DA-A41F-C148B72F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718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F4A2E-2EAB-46A8-B58B-EAE6B46A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18669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96A1E4-7CCC-4CD7-81C2-0E916F9B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44671-8D04-435F-92BF-DCA18A00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6D464-A311-439F-9DA2-30E70769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52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34"/>
                </a:solidFill>
              </a:defRPr>
            </a:pPr>
            <a:r>
              <a:rPr sz="1575" b="1">
                <a:solidFill>
                  <a:srgbClr val="071B34"/>
                </a:solidFill>
              </a:rPr>
              <a:t>Документы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B55760-ACBA-4334-93CA-D55EFCFC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9975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Персональная доставка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8EEFE6-D03F-4433-8FF1-B76C6077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66950"/>
            <a:ext cx="18669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8D2D63-25D8-4036-9A88-9C0D7E75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57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00068-FDDD-4F7A-B7B1-067F90BD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5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C44046-0C59-4109-BF93-5A3706EC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52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34"/>
                </a:solidFill>
              </a:defRPr>
            </a:pPr>
            <a:r>
              <a:rPr sz="1575" b="1">
                <a:solidFill>
                  <a:srgbClr val="071B34"/>
                </a:solidFill>
              </a:rPr>
              <a:t>Интеграции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232CF-174B-49CF-A7FB-94631AA3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09975"/>
            <a:ext cx="156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1С и Directum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0A08EB-319A-4FE5-B960-44E70ED8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577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BCB"/>
                </a:solidFill>
              </a:defRPr>
            </a:pPr>
            <a:r>
              <a:rPr sz="1500" b="1">
                <a:solidFill>
                  <a:srgbClr val="0B6BCB"/>
                </a:solidFill>
              </a:rPr>
              <a:t>Условие масштабирования: информационная безопасность, нагрузочное тестирование и подтверждённые KPI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0AEC79-254D-4A25-81D6-B266BE72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МИНИ ГРАММ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4130FC-C1AA-45E3-ACCF-234C5DA8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2084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7D9FB-DF60-4396-B2DD-F08CE537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08A3-57F7-47F1-9D16-274789C1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Следующий шаг — утвердить ограниченный пилот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24C3D-3B91-4AD7-8136-5EB9A451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E6F6"/>
                </a:solidFill>
              </a:defRPr>
            </a:pPr>
            <a:r>
              <a:rPr sz="1800" b="0">
                <a:solidFill>
                  <a:srgbClr val="CBE6F6"/>
                </a:solidFill>
              </a:rPr>
              <a:t>Проект уже имеет прототип; для дальнейшей доработки требуется серверная инфраструктура и доступ к согласованному набору документов.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194F8-FA6D-4FEE-923D-B257BF8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7C639-8557-4300-901B-16857F2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Выбрать одно подразделение и ответственных лиц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F7F10-0975-4816-9EDE-FAE81948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2C517-2510-4D4E-B63C-D165D5A9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Определить пилотную группу пользователей и роли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80F6B-E9CB-46E2-8502-938194EB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A9FB6-99EC-4293-91C8-59F641C2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Подготовить проверенный набор технической документации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FDC0D-CEB4-47F0-9AE2-8131E44D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48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B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EE593-C79D-422E-A602-5E965362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Согласовать требования безопасности и критерии успешности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CE9CB-A4D3-41E1-B683-FDAD1CA4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C9ED"/>
                </a:solidFill>
              </a:defRPr>
            </a:pPr>
            <a:r>
              <a:rPr sz="1350" b="1">
                <a:solidFill>
                  <a:srgbClr val="8DC9ED"/>
                </a:solidFill>
              </a:rPr>
              <a:t>МИНИ ГРАММ  •  защищённая связь + корпоративные знания + обучение</a:t>
            </a:r>
          </a:p>
        </p:txBody>
      </p:sp>
    </p:spTree>
    <p:extLst>
      <p:ext uri="{BB962C8B-B14F-4D97-AF65-F5344CB8AC3E}">
        <p14:creationId xmlns:p14="http://schemas.microsoft.com/office/powerpoint/2010/main" val="1589540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2026-08-17T02:46:19.5050000Z</dcterms:created>
  <dcterms:modified xsi:type="dcterms:W3CDTF">2026-08-17T02:46:19.5050000Z</dcterms:modified>
</coreProperties>
</file>